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17"/>
  </p:notesMasterIdLst>
  <p:handoutMasterIdLst>
    <p:handoutMasterId r:id="rId18"/>
  </p:handoutMasterIdLst>
  <p:sldIdLst>
    <p:sldId id="258" r:id="rId3"/>
    <p:sldId id="259" r:id="rId4"/>
    <p:sldId id="260" r:id="rId5"/>
    <p:sldId id="291" r:id="rId6"/>
    <p:sldId id="293" r:id="rId7"/>
    <p:sldId id="295" r:id="rId8"/>
    <p:sldId id="302" r:id="rId9"/>
    <p:sldId id="297" r:id="rId10"/>
    <p:sldId id="299" r:id="rId11"/>
    <p:sldId id="301" r:id="rId12"/>
    <p:sldId id="303" r:id="rId13"/>
    <p:sldId id="305" r:id="rId14"/>
    <p:sldId id="306" r:id="rId15"/>
    <p:sldId id="265" r:id="rId16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3" userDrawn="1">
          <p15:clr>
            <a:srgbClr val="A4A3A4"/>
          </p15:clr>
        </p15:guide>
        <p15:guide id="2" pos="38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A3B"/>
    <a:srgbClr val="353F48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597"/>
    <p:restoredTop sz="94619"/>
  </p:normalViewPr>
  <p:slideViewPr>
    <p:cSldViewPr snapToGrid="0" showGuides="1">
      <p:cViewPr>
        <p:scale>
          <a:sx n="100" d="100"/>
          <a:sy n="100" d="100"/>
        </p:scale>
        <p:origin x="768" y="636"/>
      </p:cViewPr>
      <p:guideLst>
        <p:guide orient="horz" pos="2163"/>
        <p:guide pos="386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 showFormatting="0"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0F9B84EA-7D68-4D60-9CB1-D50884785D1C}" type="datetimeFigureOut">
              <a:rPr lang="zh-CN" altLang="en-US" strike="noStrike" noProof="1" smtClean="0">
                <a:latin typeface="等线" pitchFamily="2" charset="-122"/>
                <a:ea typeface="等线" pitchFamily="2" charset="-122"/>
                <a:cs typeface="+mn-cs"/>
              </a:rPr>
              <a:t>2025/9/28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8D4E0FC9-F1F8-4FAE-9988-3BA365CFD46F}" type="slidenum">
              <a:rPr lang="zh-CN" altLang="en-US" strike="noStrike" noProof="1" smtClean="0">
                <a:latin typeface="等线" pitchFamily="2" charset="-122"/>
                <a:ea typeface="等线" pitchFamily="2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strike="noStrike" noProof="0">
                <a:ln>
                  <a:noFill/>
                </a:ln>
                <a:effectLst/>
                <a:uLnTx/>
                <a:uFillTx/>
                <a:sym typeface="+mn-ea"/>
              </a:rPr>
              <a:t>Click to edit Master text style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strike="noStrike" noProof="0">
                <a:ln>
                  <a:noFill/>
                </a:ln>
                <a:effectLst/>
                <a:uLnTx/>
                <a:uFillTx/>
                <a:sym typeface="+mn-ea"/>
              </a:rPr>
              <a:t>Second level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strike="noStrike" noProof="0">
                <a:ln>
                  <a:noFill/>
                </a:ln>
                <a:effectLst/>
                <a:uLnTx/>
                <a:uFillTx/>
                <a:sym typeface="+mn-ea"/>
              </a:rPr>
              <a:t>Third level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strike="noStrike" noProof="0">
                <a:ln>
                  <a:noFill/>
                </a:ln>
                <a:effectLst/>
                <a:uLnTx/>
                <a:uFillTx/>
                <a:sym typeface="+mn-ea"/>
              </a:rPr>
              <a:t>Fourth level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strike="noStrike" noProof="0">
                <a:ln>
                  <a:noFill/>
                </a:ln>
                <a:effectLst/>
                <a:uLnTx/>
                <a:uFillTx/>
                <a:sym typeface="+mn-ea"/>
              </a:rPr>
              <a:t>Fifth level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C9B17E-EBA4-4BA6-BFBF-CFC4EA0BE67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6146" name="文本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353F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Click to edit Master title style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auto"/>
            <a:r>
              <a:rPr lang="zh-CN" altLang="en-US" strike="noStrike" noProof="1"/>
              <a:t>Click to edit Master text style</a:t>
            </a:r>
          </a:p>
          <a:p>
            <a:pPr lvl="1" fontAlgn="auto"/>
            <a:r>
              <a:rPr lang="zh-CN" altLang="en-US" strike="noStrike" noProof="1"/>
              <a:t>Second level</a:t>
            </a:r>
          </a:p>
          <a:p>
            <a:pPr lvl="2" fontAlgn="auto"/>
            <a:r>
              <a:rPr lang="zh-CN" altLang="en-US" strike="noStrike" noProof="1"/>
              <a:t>Third level</a:t>
            </a:r>
          </a:p>
          <a:p>
            <a:pPr lvl="3" fontAlgn="auto"/>
            <a:r>
              <a:rPr lang="zh-CN" altLang="en-US" strike="noStrike" noProof="1"/>
              <a:t>Fourth level</a:t>
            </a:r>
          </a:p>
          <a:p>
            <a:pPr lvl="4" fontAlgn="auto"/>
            <a:r>
              <a:rPr lang="zh-CN" altLang="en-US" strike="noStrike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BCD2E4A-79A0-459F-8578-CC9ECAA6381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353F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Click to edit Master title style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auto"/>
            <a:r>
              <a:rPr lang="zh-CN" altLang="en-US" strike="noStrike" noProof="1"/>
              <a:t>Click to edit Master text style</a:t>
            </a:r>
          </a:p>
          <a:p>
            <a:pPr lvl="1" fontAlgn="auto"/>
            <a:r>
              <a:rPr lang="zh-CN" altLang="en-US" strike="noStrike" noProof="1"/>
              <a:t>Second level</a:t>
            </a:r>
          </a:p>
          <a:p>
            <a:pPr lvl="2" fontAlgn="auto"/>
            <a:r>
              <a:rPr lang="zh-CN" altLang="en-US" strike="noStrike" noProof="1"/>
              <a:t>Third level</a:t>
            </a:r>
          </a:p>
          <a:p>
            <a:pPr lvl="3" fontAlgn="auto"/>
            <a:r>
              <a:rPr lang="zh-CN" altLang="en-US" strike="noStrike" noProof="1"/>
              <a:t>Fourth level</a:t>
            </a:r>
          </a:p>
          <a:p>
            <a:pPr lvl="4" fontAlgn="auto"/>
            <a:r>
              <a:rPr lang="zh-CN" altLang="en-US" strike="noStrike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BCD2E4A-79A0-459F-8578-CC9ECAA6381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3F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Click to edit Master title style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Click to edit Master text style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BCD2E4A-79A0-459F-8578-CC9ECAA6381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3F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Click to edit Master title style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Click to edit Master text style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BCD2E4A-79A0-459F-8578-CC9ECAA6381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5805488"/>
            <a:ext cx="12192000" cy="105251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5122" name="文本框 6"/>
          <p:cNvSpPr txBox="1"/>
          <p:nvPr/>
        </p:nvSpPr>
        <p:spPr>
          <a:xfrm>
            <a:off x="3533775" y="1029335"/>
            <a:ext cx="7831455" cy="28613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GB" sz="4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Basics of Technical Writing – 2</a:t>
            </a:r>
          </a:p>
          <a:p>
            <a:pPr>
              <a:lnSpc>
                <a:spcPct val="150000"/>
              </a:lnSpc>
            </a:pPr>
            <a:r>
              <a:rPr lang="en-US" altLang="en-GB" sz="4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Shapes and Objects</a:t>
            </a:r>
          </a:p>
          <a:p>
            <a:pPr>
              <a:lnSpc>
                <a:spcPct val="150000"/>
              </a:lnSpc>
            </a:pPr>
            <a:r>
              <a:rPr lang="en-US" altLang="en-GB" sz="4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Focus: Adjectives</a:t>
            </a:r>
          </a:p>
        </p:txBody>
      </p:sp>
      <p:grpSp>
        <p:nvGrpSpPr>
          <p:cNvPr id="5123" name="组合 7"/>
          <p:cNvGrpSpPr/>
          <p:nvPr/>
        </p:nvGrpSpPr>
        <p:grpSpPr>
          <a:xfrm>
            <a:off x="5121914" y="4135209"/>
            <a:ext cx="7276761" cy="1426210"/>
            <a:chOff x="7765143" y="3654644"/>
            <a:chExt cx="1624390" cy="953916"/>
          </a:xfrm>
        </p:grpSpPr>
        <p:sp>
          <p:nvSpPr>
            <p:cNvPr id="9" name="圆角矩形 8"/>
            <p:cNvSpPr/>
            <p:nvPr/>
          </p:nvSpPr>
          <p:spPr>
            <a:xfrm>
              <a:off x="8043117" y="3654644"/>
              <a:ext cx="1092474" cy="953916"/>
            </a:xfrm>
            <a:prstGeom prst="roundRect">
              <a:avLst/>
            </a:prstGeom>
            <a:solidFill>
              <a:srgbClr val="99CA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endParaRPr>
            </a:p>
          </p:txBody>
        </p:sp>
        <p:sp>
          <p:nvSpPr>
            <p:cNvPr id="5125" name="矩形 9"/>
            <p:cNvSpPr/>
            <p:nvPr/>
          </p:nvSpPr>
          <p:spPr>
            <a:xfrm>
              <a:off x="7765143" y="3792252"/>
              <a:ext cx="1624390" cy="67869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/>
              <a:r>
                <a:rPr lang="en-GB" altLang="en-US" sz="2000" dirty="0">
                  <a:solidFill>
                    <a:srgbClr val="FFFFFF"/>
                  </a:solidFill>
                  <a:latin typeface="Arial" panose="020B0604020202020204" pitchFamily="34" charset="0"/>
                  <a:ea typeface="等线" pitchFamily="2" charset="-122"/>
                </a:rPr>
                <a:t>S.J.K.R.K.Kumarihami</a:t>
              </a:r>
            </a:p>
            <a:p>
              <a:pPr algn="ctr"/>
              <a:r>
                <a:rPr lang="en-GB" altLang="en-US" sz="2000" dirty="0">
                  <a:solidFill>
                    <a:srgbClr val="FFFFFF"/>
                  </a:solidFill>
                  <a:latin typeface="Arial" panose="020B0604020202020204" pitchFamily="34" charset="0"/>
                  <a:ea typeface="等线" pitchFamily="2" charset="-122"/>
                </a:rPr>
                <a:t>Department of Multidisciplinary Studies</a:t>
              </a:r>
            </a:p>
            <a:p>
              <a:pPr algn="ctr"/>
              <a:r>
                <a:rPr lang="en-GB" altLang="en-US" sz="2000" dirty="0">
                  <a:solidFill>
                    <a:srgbClr val="FFFFFF"/>
                  </a:solidFill>
                  <a:latin typeface="Arial" panose="020B0604020202020204" pitchFamily="34" charset="0"/>
                  <a:ea typeface="等线" pitchFamily="2" charset="-122"/>
                </a:rPr>
                <a:t>University of RUhuna</a:t>
              </a:r>
            </a:p>
          </p:txBody>
        </p:sp>
      </p:grpSp>
      <p:sp>
        <p:nvSpPr>
          <p:cNvPr id="13" name="任意多边形 12"/>
          <p:cNvSpPr/>
          <p:nvPr/>
        </p:nvSpPr>
        <p:spPr>
          <a:xfrm>
            <a:off x="0" y="2528888"/>
            <a:ext cx="4078288" cy="4329113"/>
          </a:xfrm>
          <a:custGeom>
            <a:avLst/>
            <a:gdLst>
              <a:gd name="connsiteX0" fmla="*/ 744589 w 5012696"/>
              <a:gd name="connsiteY0" fmla="*/ 0 h 5320395"/>
              <a:gd name="connsiteX1" fmla="*/ 5012696 w 5012696"/>
              <a:gd name="connsiteY1" fmla="*/ 4268107 h 5320395"/>
              <a:gd name="connsiteX2" fmla="*/ 4925983 w 5012696"/>
              <a:gd name="connsiteY2" fmla="*/ 5128280 h 5320395"/>
              <a:gd name="connsiteX3" fmla="*/ 4876585 w 5012696"/>
              <a:gd name="connsiteY3" fmla="*/ 5320395 h 5320395"/>
              <a:gd name="connsiteX4" fmla="*/ 0 w 5012696"/>
              <a:gd name="connsiteY4" fmla="*/ 5320395 h 5320395"/>
              <a:gd name="connsiteX5" fmla="*/ 0 w 5012696"/>
              <a:gd name="connsiteY5" fmla="*/ 66072 h 5320395"/>
              <a:gd name="connsiteX6" fmla="*/ 94598 w 5012696"/>
              <a:gd name="connsiteY6" fmla="*/ 49178 h 5320395"/>
              <a:gd name="connsiteX7" fmla="*/ 744589 w 5012696"/>
              <a:gd name="connsiteY7" fmla="*/ 0 h 5320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12696" h="5320395">
                <a:moveTo>
                  <a:pt x="744589" y="0"/>
                </a:moveTo>
                <a:cubicBezTo>
                  <a:pt x="3101799" y="0"/>
                  <a:pt x="5012696" y="1910897"/>
                  <a:pt x="5012696" y="4268107"/>
                </a:cubicBezTo>
                <a:cubicBezTo>
                  <a:pt x="5012696" y="4562759"/>
                  <a:pt x="4982838" y="4850436"/>
                  <a:pt x="4925983" y="5128280"/>
                </a:cubicBezTo>
                <a:lnTo>
                  <a:pt x="4876585" y="5320395"/>
                </a:lnTo>
                <a:lnTo>
                  <a:pt x="0" y="5320395"/>
                </a:lnTo>
                <a:lnTo>
                  <a:pt x="0" y="66072"/>
                </a:lnTo>
                <a:lnTo>
                  <a:pt x="94598" y="49178"/>
                </a:lnTo>
                <a:cubicBezTo>
                  <a:pt x="306535" y="16795"/>
                  <a:pt x="523601" y="0"/>
                  <a:pt x="744589" y="0"/>
                </a:cubicBezTo>
                <a:close/>
              </a:path>
            </a:pathLst>
          </a:cu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3533775" y="5011738"/>
            <a:ext cx="1089025" cy="10874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10610850" y="730250"/>
            <a:ext cx="411163" cy="40957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11387138" y="1357313"/>
            <a:ext cx="258763" cy="25876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3"/>
          <p:cNvSpPr/>
          <p:nvPr/>
        </p:nvSpPr>
        <p:spPr>
          <a:xfrm flipH="1">
            <a:off x="9982200" y="2065338"/>
            <a:ext cx="2209800" cy="4792663"/>
          </a:xfrm>
          <a:custGeom>
            <a:avLst/>
            <a:gdLst>
              <a:gd name="connsiteX0" fmla="*/ 0 w 2209800"/>
              <a:gd name="connsiteY0" fmla="*/ 0 h 4792863"/>
              <a:gd name="connsiteX1" fmla="*/ 106223 w 2209800"/>
              <a:gd name="connsiteY1" fmla="*/ 6164 h 4792863"/>
              <a:gd name="connsiteX2" fmla="*/ 2209800 w 2209800"/>
              <a:gd name="connsiteY2" fmla="*/ 2684663 h 4792863"/>
              <a:gd name="connsiteX3" fmla="*/ 1452505 w 2209800"/>
              <a:gd name="connsiteY3" fmla="*/ 4666727 h 4792863"/>
              <a:gd name="connsiteX4" fmla="*/ 1321885 w 2209800"/>
              <a:gd name="connsiteY4" fmla="*/ 4792863 h 4792863"/>
              <a:gd name="connsiteX5" fmla="*/ 0 w 2209800"/>
              <a:gd name="connsiteY5" fmla="*/ 4792863 h 479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09800" h="4792863">
                <a:moveTo>
                  <a:pt x="0" y="0"/>
                </a:moveTo>
                <a:lnTo>
                  <a:pt x="106223" y="6164"/>
                </a:lnTo>
                <a:cubicBezTo>
                  <a:pt x="1287771" y="144042"/>
                  <a:pt x="2209800" y="1290628"/>
                  <a:pt x="2209800" y="2684663"/>
                </a:cubicBezTo>
                <a:cubicBezTo>
                  <a:pt x="2209800" y="3468809"/>
                  <a:pt x="1918064" y="4174659"/>
                  <a:pt x="1452505" y="4666727"/>
                </a:cubicBezTo>
                <a:lnTo>
                  <a:pt x="1321885" y="4792863"/>
                </a:lnTo>
                <a:lnTo>
                  <a:pt x="0" y="4792863"/>
                </a:lnTo>
                <a:close/>
              </a:path>
            </a:pathLst>
          </a:cu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5" name="等腰三角形 4"/>
          <p:cNvSpPr/>
          <p:nvPr/>
        </p:nvSpPr>
        <p:spPr>
          <a:xfrm rot="10800000">
            <a:off x="7808913" y="0"/>
            <a:ext cx="1600200" cy="7620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6" name="等腰三角形 5"/>
          <p:cNvSpPr/>
          <p:nvPr/>
        </p:nvSpPr>
        <p:spPr>
          <a:xfrm rot="2033691">
            <a:off x="9542463" y="1358900"/>
            <a:ext cx="854075" cy="736600"/>
          </a:xfrm>
          <a:prstGeom prst="triangle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0979150" y="928688"/>
            <a:ext cx="254000" cy="254000"/>
          </a:xfrm>
          <a:prstGeom prst="ellipse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593725" y="5983288"/>
            <a:ext cx="644525" cy="646113"/>
          </a:xfrm>
          <a:prstGeom prst="ellipse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28065" y="762000"/>
            <a:ext cx="76333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40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Learning Objectives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842645" y="2065655"/>
            <a:ext cx="9001125" cy="4092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By the end of this lesson, students will be able to:</a:t>
            </a:r>
          </a:p>
          <a:p>
            <a:endParaRPr lang="en-US" altLang="en-GB" sz="2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Identify different types of adjectives.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sz="2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Use adjectives to describe shapes (2D, 3D) and objects.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sz="2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Apply adjectives to express function, components, characteristics, and position.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sz="2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Write short descriptions using appropriate adjectives.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组合 33"/>
          <p:cNvGrpSpPr/>
          <p:nvPr/>
        </p:nvGrpSpPr>
        <p:grpSpPr>
          <a:xfrm>
            <a:off x="-1784667" y="4254183"/>
            <a:ext cx="4527550" cy="3462337"/>
            <a:chOff x="-290449" y="3324849"/>
            <a:chExt cx="5561545" cy="4254420"/>
          </a:xfrm>
        </p:grpSpPr>
        <p:grpSp>
          <p:nvGrpSpPr>
            <p:cNvPr id="8195" name="组合 3"/>
            <p:cNvGrpSpPr/>
            <p:nvPr/>
          </p:nvGrpSpPr>
          <p:grpSpPr>
            <a:xfrm rot="5400000">
              <a:off x="2671563" y="3324672"/>
              <a:ext cx="2599356" cy="2599710"/>
              <a:chOff x="9579914" y="4258290"/>
              <a:chExt cx="2599356" cy="2599710"/>
            </a:xfrm>
          </p:grpSpPr>
          <p:cxnSp>
            <p:nvCxnSpPr>
              <p:cNvPr id="5" name="直接连接符 4"/>
              <p:cNvCxnSpPr/>
              <p:nvPr/>
            </p:nvCxnSpPr>
            <p:spPr>
              <a:xfrm>
                <a:off x="9586272" y="4271002"/>
                <a:ext cx="2592998" cy="2586998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197" name="组合 5"/>
              <p:cNvGrpSpPr/>
              <p:nvPr/>
            </p:nvGrpSpPr>
            <p:grpSpPr>
              <a:xfrm>
                <a:off x="9579914" y="4258290"/>
                <a:ext cx="1869136" cy="1856760"/>
                <a:chOff x="9567214" y="4277340"/>
                <a:chExt cx="1869136" cy="1856760"/>
              </a:xfrm>
            </p:grpSpPr>
            <p:cxnSp>
              <p:nvCxnSpPr>
                <p:cNvPr id="7" name="直接连接符 6"/>
                <p:cNvCxnSpPr/>
                <p:nvPr/>
              </p:nvCxnSpPr>
              <p:spPr>
                <a:xfrm>
                  <a:off x="9567224" y="4277350"/>
                  <a:ext cx="0" cy="18567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直接连接符 7"/>
                <p:cNvCxnSpPr/>
                <p:nvPr/>
              </p:nvCxnSpPr>
              <p:spPr>
                <a:xfrm flipH="1">
                  <a:off x="9567214" y="4277340"/>
                  <a:ext cx="1869136" cy="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8200" name="组合 8"/>
            <p:cNvGrpSpPr/>
            <p:nvPr/>
          </p:nvGrpSpPr>
          <p:grpSpPr>
            <a:xfrm rot="5400000">
              <a:off x="3000942" y="4677395"/>
              <a:ext cx="2160252" cy="2159925"/>
              <a:chOff x="9579914" y="4258290"/>
              <a:chExt cx="2944317" cy="2943871"/>
            </a:xfrm>
          </p:grpSpPr>
          <p:cxnSp>
            <p:nvCxnSpPr>
              <p:cNvPr id="10" name="直接连接符 9"/>
              <p:cNvCxnSpPr/>
              <p:nvPr/>
            </p:nvCxnSpPr>
            <p:spPr>
              <a:xfrm rot="16200000" flipH="1">
                <a:off x="9589664" y="4267594"/>
                <a:ext cx="2931159" cy="2937958"/>
              </a:xfrm>
              <a:prstGeom prst="line">
                <a:avLst/>
              </a:prstGeom>
              <a:ln w="19050">
                <a:solidFill>
                  <a:schemeClr val="bg1">
                    <a:alpha val="34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202" name="组合 10"/>
              <p:cNvGrpSpPr/>
              <p:nvPr/>
            </p:nvGrpSpPr>
            <p:grpSpPr>
              <a:xfrm>
                <a:off x="9579914" y="4258290"/>
                <a:ext cx="1869136" cy="1856760"/>
                <a:chOff x="9567214" y="4277340"/>
                <a:chExt cx="1869136" cy="1856760"/>
              </a:xfrm>
            </p:grpSpPr>
            <p:cxnSp>
              <p:nvCxnSpPr>
                <p:cNvPr id="12" name="直接连接符 11"/>
                <p:cNvCxnSpPr/>
                <p:nvPr/>
              </p:nvCxnSpPr>
              <p:spPr>
                <a:xfrm>
                  <a:off x="9567224" y="4277350"/>
                  <a:ext cx="0" cy="1856750"/>
                </a:xfrm>
                <a:prstGeom prst="line">
                  <a:avLst/>
                </a:prstGeom>
                <a:ln w="19050">
                  <a:solidFill>
                    <a:schemeClr val="bg1">
                      <a:alpha val="34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直接连接符 12"/>
                <p:cNvCxnSpPr/>
                <p:nvPr/>
              </p:nvCxnSpPr>
              <p:spPr>
                <a:xfrm flipH="1">
                  <a:off x="9567214" y="4277340"/>
                  <a:ext cx="1869136" cy="0"/>
                </a:xfrm>
                <a:prstGeom prst="line">
                  <a:avLst/>
                </a:prstGeom>
                <a:ln w="19050">
                  <a:solidFill>
                    <a:schemeClr val="bg1">
                      <a:alpha val="34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8205" name="组合 13"/>
            <p:cNvGrpSpPr/>
            <p:nvPr/>
          </p:nvGrpSpPr>
          <p:grpSpPr>
            <a:xfrm rot="5400000">
              <a:off x="522348" y="3764108"/>
              <a:ext cx="2160252" cy="2159925"/>
              <a:chOff x="9579914" y="4258290"/>
              <a:chExt cx="2944317" cy="2943871"/>
            </a:xfrm>
          </p:grpSpPr>
          <p:cxnSp>
            <p:nvCxnSpPr>
              <p:cNvPr id="15" name="直接连接符 14"/>
              <p:cNvCxnSpPr/>
              <p:nvPr/>
            </p:nvCxnSpPr>
            <p:spPr>
              <a:xfrm rot="16200000" flipH="1">
                <a:off x="9589664" y="4267594"/>
                <a:ext cx="2931159" cy="2937958"/>
              </a:xfrm>
              <a:prstGeom prst="line">
                <a:avLst/>
              </a:prstGeom>
              <a:ln w="19050">
                <a:solidFill>
                  <a:schemeClr val="bg1">
                    <a:alpha val="34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207" name="组合 15"/>
              <p:cNvGrpSpPr/>
              <p:nvPr/>
            </p:nvGrpSpPr>
            <p:grpSpPr>
              <a:xfrm>
                <a:off x="9579914" y="4258290"/>
                <a:ext cx="1869136" cy="1856760"/>
                <a:chOff x="9567214" y="4277340"/>
                <a:chExt cx="1869136" cy="1856760"/>
              </a:xfrm>
            </p:grpSpPr>
            <p:cxnSp>
              <p:nvCxnSpPr>
                <p:cNvPr id="17" name="直接连接符 16"/>
                <p:cNvCxnSpPr/>
                <p:nvPr/>
              </p:nvCxnSpPr>
              <p:spPr>
                <a:xfrm>
                  <a:off x="9567224" y="4277350"/>
                  <a:ext cx="0" cy="1856750"/>
                </a:xfrm>
                <a:prstGeom prst="line">
                  <a:avLst/>
                </a:prstGeom>
                <a:ln w="19050">
                  <a:solidFill>
                    <a:schemeClr val="bg1">
                      <a:alpha val="34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直接连接符 17"/>
                <p:cNvCxnSpPr/>
                <p:nvPr/>
              </p:nvCxnSpPr>
              <p:spPr>
                <a:xfrm flipH="1">
                  <a:off x="9567214" y="4277340"/>
                  <a:ext cx="1869136" cy="0"/>
                </a:xfrm>
                <a:prstGeom prst="line">
                  <a:avLst/>
                </a:prstGeom>
                <a:ln w="19050">
                  <a:solidFill>
                    <a:schemeClr val="bg1">
                      <a:alpha val="34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8210" name="组合 18"/>
            <p:cNvGrpSpPr/>
            <p:nvPr/>
          </p:nvGrpSpPr>
          <p:grpSpPr>
            <a:xfrm rot="5400000">
              <a:off x="-290568" y="4178378"/>
              <a:ext cx="1579097" cy="1578858"/>
              <a:chOff x="9579914" y="4258290"/>
              <a:chExt cx="2944317" cy="2943871"/>
            </a:xfrm>
          </p:grpSpPr>
          <p:cxnSp>
            <p:nvCxnSpPr>
              <p:cNvPr id="20" name="直接连接符 19"/>
              <p:cNvCxnSpPr/>
              <p:nvPr/>
            </p:nvCxnSpPr>
            <p:spPr>
              <a:xfrm rot="16200000" flipH="1">
                <a:off x="9589664" y="4267594"/>
                <a:ext cx="2931159" cy="2937958"/>
              </a:xfrm>
              <a:prstGeom prst="line">
                <a:avLst/>
              </a:prstGeom>
              <a:ln w="19050">
                <a:solidFill>
                  <a:schemeClr val="bg1">
                    <a:alpha val="34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212" name="组合 20"/>
              <p:cNvGrpSpPr/>
              <p:nvPr/>
            </p:nvGrpSpPr>
            <p:grpSpPr>
              <a:xfrm>
                <a:off x="9579914" y="4258290"/>
                <a:ext cx="1869136" cy="1856760"/>
                <a:chOff x="9567214" y="4277340"/>
                <a:chExt cx="1869136" cy="1856760"/>
              </a:xfrm>
            </p:grpSpPr>
            <p:cxnSp>
              <p:nvCxnSpPr>
                <p:cNvPr id="22" name="直接连接符 21"/>
                <p:cNvCxnSpPr/>
                <p:nvPr/>
              </p:nvCxnSpPr>
              <p:spPr>
                <a:xfrm>
                  <a:off x="9567224" y="4277350"/>
                  <a:ext cx="0" cy="1856750"/>
                </a:xfrm>
                <a:prstGeom prst="line">
                  <a:avLst/>
                </a:prstGeom>
                <a:ln w="19050">
                  <a:solidFill>
                    <a:schemeClr val="bg1">
                      <a:alpha val="34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接连接符 22"/>
                <p:cNvCxnSpPr/>
                <p:nvPr/>
              </p:nvCxnSpPr>
              <p:spPr>
                <a:xfrm flipH="1">
                  <a:off x="9567214" y="4277340"/>
                  <a:ext cx="1869136" cy="0"/>
                </a:xfrm>
                <a:prstGeom prst="line">
                  <a:avLst/>
                </a:prstGeom>
                <a:ln w="19050">
                  <a:solidFill>
                    <a:schemeClr val="bg1">
                      <a:alpha val="34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8215" name="组合 23"/>
            <p:cNvGrpSpPr/>
            <p:nvPr/>
          </p:nvGrpSpPr>
          <p:grpSpPr>
            <a:xfrm rot="5400000">
              <a:off x="-40702" y="5276874"/>
              <a:ext cx="1579097" cy="1578858"/>
              <a:chOff x="9579914" y="4258290"/>
              <a:chExt cx="2944317" cy="2943871"/>
            </a:xfrm>
          </p:grpSpPr>
          <p:cxnSp>
            <p:nvCxnSpPr>
              <p:cNvPr id="25" name="直接连接符 24"/>
              <p:cNvCxnSpPr/>
              <p:nvPr/>
            </p:nvCxnSpPr>
            <p:spPr>
              <a:xfrm rot="16200000" flipH="1">
                <a:off x="9589664" y="4267594"/>
                <a:ext cx="2931159" cy="2937958"/>
              </a:xfrm>
              <a:prstGeom prst="line">
                <a:avLst/>
              </a:prstGeom>
              <a:ln w="19050">
                <a:solidFill>
                  <a:schemeClr val="bg1">
                    <a:alpha val="34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217" name="组合 25"/>
              <p:cNvGrpSpPr/>
              <p:nvPr/>
            </p:nvGrpSpPr>
            <p:grpSpPr>
              <a:xfrm>
                <a:off x="9579914" y="4258290"/>
                <a:ext cx="2432165" cy="2411221"/>
                <a:chOff x="9567214" y="4277340"/>
                <a:chExt cx="2432165" cy="2411221"/>
              </a:xfrm>
            </p:grpSpPr>
            <p:cxnSp>
              <p:nvCxnSpPr>
                <p:cNvPr id="27" name="直接连接符 26"/>
                <p:cNvCxnSpPr/>
                <p:nvPr/>
              </p:nvCxnSpPr>
              <p:spPr>
                <a:xfrm rot="16200000" flipH="1">
                  <a:off x="8361619" y="5482955"/>
                  <a:ext cx="2411212" cy="0"/>
                </a:xfrm>
                <a:prstGeom prst="line">
                  <a:avLst/>
                </a:prstGeom>
                <a:ln w="19050">
                  <a:solidFill>
                    <a:schemeClr val="bg1">
                      <a:alpha val="34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直接连接符 27"/>
                <p:cNvCxnSpPr/>
                <p:nvPr/>
              </p:nvCxnSpPr>
              <p:spPr>
                <a:xfrm rot="16200000" flipV="1">
                  <a:off x="10783288" y="3061249"/>
                  <a:ext cx="0" cy="2432165"/>
                </a:xfrm>
                <a:prstGeom prst="line">
                  <a:avLst/>
                </a:prstGeom>
                <a:ln w="19050">
                  <a:solidFill>
                    <a:schemeClr val="bg1">
                      <a:alpha val="34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8220" name="组合 28"/>
            <p:cNvGrpSpPr/>
            <p:nvPr/>
          </p:nvGrpSpPr>
          <p:grpSpPr>
            <a:xfrm rot="5400000">
              <a:off x="839095" y="6000282"/>
              <a:ext cx="1579097" cy="1578858"/>
              <a:chOff x="9579914" y="4258290"/>
              <a:chExt cx="2944317" cy="2943871"/>
            </a:xfrm>
          </p:grpSpPr>
          <p:cxnSp>
            <p:nvCxnSpPr>
              <p:cNvPr id="30" name="直接连接符 29"/>
              <p:cNvCxnSpPr/>
              <p:nvPr/>
            </p:nvCxnSpPr>
            <p:spPr>
              <a:xfrm rot="16200000" flipH="1">
                <a:off x="9589664" y="4267594"/>
                <a:ext cx="2931159" cy="2937958"/>
              </a:xfrm>
              <a:prstGeom prst="line">
                <a:avLst/>
              </a:prstGeom>
              <a:ln w="19050">
                <a:solidFill>
                  <a:schemeClr val="bg1">
                    <a:alpha val="34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222" name="组合 30"/>
              <p:cNvGrpSpPr/>
              <p:nvPr/>
            </p:nvGrpSpPr>
            <p:grpSpPr>
              <a:xfrm>
                <a:off x="9579914" y="4258290"/>
                <a:ext cx="1869136" cy="1856760"/>
                <a:chOff x="9567214" y="4277340"/>
                <a:chExt cx="1869136" cy="1856760"/>
              </a:xfrm>
            </p:grpSpPr>
            <p:cxnSp>
              <p:nvCxnSpPr>
                <p:cNvPr id="32" name="直接连接符 31"/>
                <p:cNvCxnSpPr/>
                <p:nvPr/>
              </p:nvCxnSpPr>
              <p:spPr>
                <a:xfrm>
                  <a:off x="9567224" y="4277350"/>
                  <a:ext cx="0" cy="1856750"/>
                </a:xfrm>
                <a:prstGeom prst="line">
                  <a:avLst/>
                </a:prstGeom>
                <a:ln w="19050">
                  <a:solidFill>
                    <a:schemeClr val="bg1">
                      <a:alpha val="34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直接连接符 32"/>
                <p:cNvCxnSpPr/>
                <p:nvPr/>
              </p:nvCxnSpPr>
              <p:spPr>
                <a:xfrm flipH="1">
                  <a:off x="9567214" y="4277340"/>
                  <a:ext cx="1869136" cy="0"/>
                </a:xfrm>
                <a:prstGeom prst="line">
                  <a:avLst/>
                </a:prstGeom>
                <a:ln w="19050">
                  <a:solidFill>
                    <a:schemeClr val="bg1">
                      <a:alpha val="34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36" name="椭圆 35"/>
          <p:cNvSpPr/>
          <p:nvPr/>
        </p:nvSpPr>
        <p:spPr>
          <a:xfrm flipV="1">
            <a:off x="9161463" y="2794000"/>
            <a:ext cx="304800" cy="3048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椭圆 36"/>
          <p:cNvSpPr/>
          <p:nvPr/>
        </p:nvSpPr>
        <p:spPr>
          <a:xfrm flipV="1">
            <a:off x="9923463" y="1384300"/>
            <a:ext cx="606425" cy="6064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227" name="文本框 128"/>
          <p:cNvSpPr txBox="1"/>
          <p:nvPr/>
        </p:nvSpPr>
        <p:spPr>
          <a:xfrm>
            <a:off x="2985135" y="1884680"/>
            <a:ext cx="7432675" cy="3538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en-GB" sz="3200" dirty="0">
                <a:solidFill>
                  <a:srgbClr val="FFFFFF"/>
                </a:solidFill>
                <a:latin typeface="Times New Roman" panose="02020603050405020304" charset="0"/>
                <a:ea typeface="Arial" panose="020B0604020202020204" pitchFamily="34" charset="0"/>
                <a:cs typeface="Times New Roman" panose="02020603050405020304" charset="0"/>
              </a:rPr>
              <a:t>Adjectives = words that describe nouns.</a:t>
            </a:r>
          </a:p>
          <a:p>
            <a:endParaRPr lang="en-US" altLang="en-GB" sz="3200" dirty="0">
              <a:solidFill>
                <a:srgbClr val="FFFFFF"/>
              </a:solidFill>
              <a:latin typeface="Times New Roman" panose="02020603050405020304" charset="0"/>
              <a:ea typeface="Arial" panose="020B0604020202020204" pitchFamily="34" charset="0"/>
              <a:cs typeface="Times New Roman" panose="02020603050405020304" charset="0"/>
            </a:endParaRPr>
          </a:p>
          <a:p>
            <a:r>
              <a:rPr lang="en-US" altLang="en-GB" sz="3200" dirty="0">
                <a:solidFill>
                  <a:srgbClr val="FFFFFF"/>
                </a:solidFill>
                <a:latin typeface="Times New Roman" panose="02020603050405020304" charset="0"/>
                <a:ea typeface="Arial" panose="020B0604020202020204" pitchFamily="34" charset="0"/>
                <a:cs typeface="Times New Roman" panose="02020603050405020304" charset="0"/>
              </a:rPr>
              <a:t>They answer: What kind? How many? Which one?</a:t>
            </a:r>
          </a:p>
          <a:p>
            <a:endParaRPr lang="en-US" altLang="en-GB" sz="3200" dirty="0">
              <a:solidFill>
                <a:srgbClr val="FFFFFF"/>
              </a:solidFill>
              <a:latin typeface="Times New Roman" panose="02020603050405020304" charset="0"/>
              <a:ea typeface="Arial" panose="020B0604020202020204" pitchFamily="34" charset="0"/>
              <a:cs typeface="Times New Roman" panose="02020603050405020304" charset="0"/>
            </a:endParaRPr>
          </a:p>
          <a:p>
            <a:r>
              <a:rPr lang="en-US" altLang="en-GB" sz="3200" dirty="0">
                <a:solidFill>
                  <a:srgbClr val="FFFFFF"/>
                </a:solidFill>
                <a:latin typeface="Times New Roman" panose="02020603050405020304" charset="0"/>
                <a:ea typeface="Arial" panose="020B0604020202020204" pitchFamily="34" charset="0"/>
                <a:cs typeface="Times New Roman" panose="02020603050405020304" charset="0"/>
              </a:rPr>
              <a:t>Important in technical writing </a:t>
            </a:r>
            <a:r>
              <a:rPr lang="en-US" altLang="en-US" sz="3200" dirty="0">
                <a:solidFill>
                  <a:srgbClr val="FFFFFF"/>
                </a:solidFill>
                <a:latin typeface="Times New Roman" panose="02020603050405020304" charset="0"/>
                <a:ea typeface="Arial" panose="020B0604020202020204" pitchFamily="34" charset="0"/>
                <a:cs typeface="Times New Roman" panose="02020603050405020304" charset="0"/>
              </a:rPr>
              <a:t>→</a:t>
            </a:r>
            <a:r>
              <a:rPr lang="en-US" altLang="en-GB" sz="3200" dirty="0">
                <a:solidFill>
                  <a:srgbClr val="FFFFFF"/>
                </a:solidFill>
                <a:latin typeface="Times New Roman" panose="02020603050405020304" charset="0"/>
                <a:ea typeface="Arial" panose="020B0604020202020204" pitchFamily="34" charset="0"/>
                <a:cs typeface="Times New Roman" panose="02020603050405020304" charset="0"/>
              </a:rPr>
              <a:t> give clarity, precision, accuracy.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989330" y="820420"/>
            <a:ext cx="48152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32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Introduction to Adjectives</a:t>
            </a:r>
          </a:p>
        </p:txBody>
      </p:sp>
      <p:sp>
        <p:nvSpPr>
          <p:cNvPr id="4" name="任意多边形 3"/>
          <p:cNvSpPr/>
          <p:nvPr/>
        </p:nvSpPr>
        <p:spPr>
          <a:xfrm flipH="1">
            <a:off x="9982200" y="2064703"/>
            <a:ext cx="2209800" cy="4792663"/>
          </a:xfrm>
          <a:custGeom>
            <a:avLst/>
            <a:gdLst>
              <a:gd name="connsiteX0" fmla="*/ 0 w 2209800"/>
              <a:gd name="connsiteY0" fmla="*/ 0 h 4792863"/>
              <a:gd name="connsiteX1" fmla="*/ 106223 w 2209800"/>
              <a:gd name="connsiteY1" fmla="*/ 6164 h 4792863"/>
              <a:gd name="connsiteX2" fmla="*/ 2209800 w 2209800"/>
              <a:gd name="connsiteY2" fmla="*/ 2684663 h 4792863"/>
              <a:gd name="connsiteX3" fmla="*/ 1452505 w 2209800"/>
              <a:gd name="connsiteY3" fmla="*/ 4666727 h 4792863"/>
              <a:gd name="connsiteX4" fmla="*/ 1321885 w 2209800"/>
              <a:gd name="connsiteY4" fmla="*/ 4792863 h 4792863"/>
              <a:gd name="connsiteX5" fmla="*/ 0 w 2209800"/>
              <a:gd name="connsiteY5" fmla="*/ 4792863 h 479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09800" h="4792863">
                <a:moveTo>
                  <a:pt x="0" y="0"/>
                </a:moveTo>
                <a:lnTo>
                  <a:pt x="106223" y="6164"/>
                </a:lnTo>
                <a:cubicBezTo>
                  <a:pt x="1287771" y="144042"/>
                  <a:pt x="2209800" y="1290628"/>
                  <a:pt x="2209800" y="2684663"/>
                </a:cubicBezTo>
                <a:cubicBezTo>
                  <a:pt x="2209800" y="3468809"/>
                  <a:pt x="1918064" y="4174659"/>
                  <a:pt x="1452505" y="4666727"/>
                </a:cubicBezTo>
                <a:lnTo>
                  <a:pt x="1321885" y="4792863"/>
                </a:lnTo>
                <a:lnTo>
                  <a:pt x="0" y="4792863"/>
                </a:lnTo>
                <a:close/>
              </a:path>
            </a:pathLst>
          </a:cu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3"/>
          <p:cNvSpPr/>
          <p:nvPr/>
        </p:nvSpPr>
        <p:spPr>
          <a:xfrm flipH="1">
            <a:off x="9982200" y="2065338"/>
            <a:ext cx="2209800" cy="4792663"/>
          </a:xfrm>
          <a:custGeom>
            <a:avLst/>
            <a:gdLst>
              <a:gd name="connsiteX0" fmla="*/ 0 w 2209800"/>
              <a:gd name="connsiteY0" fmla="*/ 0 h 4792863"/>
              <a:gd name="connsiteX1" fmla="*/ 106223 w 2209800"/>
              <a:gd name="connsiteY1" fmla="*/ 6164 h 4792863"/>
              <a:gd name="connsiteX2" fmla="*/ 2209800 w 2209800"/>
              <a:gd name="connsiteY2" fmla="*/ 2684663 h 4792863"/>
              <a:gd name="connsiteX3" fmla="*/ 1452505 w 2209800"/>
              <a:gd name="connsiteY3" fmla="*/ 4666727 h 4792863"/>
              <a:gd name="connsiteX4" fmla="*/ 1321885 w 2209800"/>
              <a:gd name="connsiteY4" fmla="*/ 4792863 h 4792863"/>
              <a:gd name="connsiteX5" fmla="*/ 0 w 2209800"/>
              <a:gd name="connsiteY5" fmla="*/ 4792863 h 479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09800" h="4792863">
                <a:moveTo>
                  <a:pt x="0" y="0"/>
                </a:moveTo>
                <a:lnTo>
                  <a:pt x="106223" y="6164"/>
                </a:lnTo>
                <a:cubicBezTo>
                  <a:pt x="1287771" y="144042"/>
                  <a:pt x="2209800" y="1290628"/>
                  <a:pt x="2209800" y="2684663"/>
                </a:cubicBezTo>
                <a:cubicBezTo>
                  <a:pt x="2209800" y="3468809"/>
                  <a:pt x="1918064" y="4174659"/>
                  <a:pt x="1452505" y="4666727"/>
                </a:cubicBezTo>
                <a:lnTo>
                  <a:pt x="1321885" y="4792863"/>
                </a:lnTo>
                <a:lnTo>
                  <a:pt x="0" y="4792863"/>
                </a:lnTo>
                <a:close/>
              </a:path>
            </a:pathLst>
          </a:cu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5" name="等腰三角形 4"/>
          <p:cNvSpPr/>
          <p:nvPr/>
        </p:nvSpPr>
        <p:spPr>
          <a:xfrm rot="10800000">
            <a:off x="7808913" y="0"/>
            <a:ext cx="1600200" cy="7620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6" name="等腰三角形 5"/>
          <p:cNvSpPr/>
          <p:nvPr/>
        </p:nvSpPr>
        <p:spPr>
          <a:xfrm rot="2033691">
            <a:off x="9542463" y="1358900"/>
            <a:ext cx="854075" cy="736600"/>
          </a:xfrm>
          <a:prstGeom prst="triangle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0979150" y="928688"/>
            <a:ext cx="254000" cy="254000"/>
          </a:xfrm>
          <a:prstGeom prst="ellipse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593725" y="5983288"/>
            <a:ext cx="644525" cy="646113"/>
          </a:xfrm>
          <a:prstGeom prst="ellipse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28065" y="762000"/>
            <a:ext cx="76333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40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Types of Adjectives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1326515" y="2065655"/>
            <a:ext cx="9001125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Qualitative </a:t>
            </a:r>
            <a:r>
              <a:rPr lang="en-US" altLang="en-US" sz="2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 sz="2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size, color, shape, material (round, smooth, metallic)</a:t>
            </a:r>
          </a:p>
          <a:p>
            <a:endParaRPr lang="en-US" altLang="en-GB" sz="28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2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Quantitative </a:t>
            </a:r>
            <a:r>
              <a:rPr lang="en-US" altLang="en-US" sz="2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 sz="2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amount, degree (some, many, few, several)</a:t>
            </a:r>
          </a:p>
          <a:p>
            <a:endParaRPr lang="en-US" altLang="en-GB" sz="28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2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Numerical </a:t>
            </a:r>
            <a:r>
              <a:rPr lang="en-US" altLang="en-US" sz="2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 sz="2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exact numbers (one, two, first, second)</a:t>
            </a:r>
          </a:p>
          <a:p>
            <a:endParaRPr lang="en-US" altLang="en-GB" sz="28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2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Possessive </a:t>
            </a:r>
            <a:r>
              <a:rPr lang="en-US" altLang="en-US" sz="2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 sz="2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ownership (its, their, our)</a:t>
            </a:r>
          </a:p>
          <a:p>
            <a:endParaRPr lang="en-US" altLang="en-GB" sz="28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2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Interrogative </a:t>
            </a:r>
            <a:r>
              <a:rPr lang="en-US" altLang="en-US" sz="2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 sz="2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used in questions (which, what, whose)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648970" y="552450"/>
            <a:ext cx="76333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40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Shapes in Technical Writing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648970" y="1459230"/>
            <a:ext cx="857504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2D Shapes </a:t>
            </a:r>
            <a:r>
              <a:rPr lang="en-US" altLang="en-US" sz="2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 sz="2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circle, square, rectangle, triangle, hexagon</a:t>
            </a:r>
          </a:p>
          <a:p>
            <a:endParaRPr lang="en-US" altLang="en-GB" sz="28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2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3D Shapes </a:t>
            </a:r>
            <a:r>
              <a:rPr lang="en-US" altLang="en-US" sz="2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 sz="2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sphere, cube, cylinder, cone, pyramid</a:t>
            </a:r>
          </a:p>
        </p:txBody>
      </p:sp>
      <p:pic>
        <p:nvPicPr>
          <p:cNvPr id="12" name="Picture 11"/>
          <p:cNvPicPr/>
          <p:nvPr/>
        </p:nvPicPr>
        <p:blipFill>
          <a:blip r:embed="rId2"/>
          <a:srcRect l="52793" t="10579" r="4388" b="3484"/>
          <a:stretch>
            <a:fillRect/>
          </a:stretch>
        </p:blipFill>
        <p:spPr>
          <a:xfrm>
            <a:off x="6131560" y="2945765"/>
            <a:ext cx="4218305" cy="3912235"/>
          </a:xfrm>
          <a:prstGeom prst="rect">
            <a:avLst/>
          </a:prstGeom>
        </p:spPr>
      </p:pic>
      <p:pic>
        <p:nvPicPr>
          <p:cNvPr id="13" name="Picture 12"/>
          <p:cNvPicPr/>
          <p:nvPr/>
        </p:nvPicPr>
        <p:blipFill>
          <a:blip r:embed="rId2"/>
          <a:srcRect l="5866" t="10451" r="52806" b="4630"/>
          <a:stretch>
            <a:fillRect/>
          </a:stretch>
        </p:blipFill>
        <p:spPr>
          <a:xfrm>
            <a:off x="2038350" y="2945765"/>
            <a:ext cx="3857625" cy="39122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3"/>
          <p:cNvSpPr/>
          <p:nvPr/>
        </p:nvSpPr>
        <p:spPr>
          <a:xfrm flipH="1">
            <a:off x="9982200" y="2065338"/>
            <a:ext cx="2209800" cy="4792663"/>
          </a:xfrm>
          <a:custGeom>
            <a:avLst/>
            <a:gdLst>
              <a:gd name="connsiteX0" fmla="*/ 0 w 2209800"/>
              <a:gd name="connsiteY0" fmla="*/ 0 h 4792863"/>
              <a:gd name="connsiteX1" fmla="*/ 106223 w 2209800"/>
              <a:gd name="connsiteY1" fmla="*/ 6164 h 4792863"/>
              <a:gd name="connsiteX2" fmla="*/ 2209800 w 2209800"/>
              <a:gd name="connsiteY2" fmla="*/ 2684663 h 4792863"/>
              <a:gd name="connsiteX3" fmla="*/ 1452505 w 2209800"/>
              <a:gd name="connsiteY3" fmla="*/ 4666727 h 4792863"/>
              <a:gd name="connsiteX4" fmla="*/ 1321885 w 2209800"/>
              <a:gd name="connsiteY4" fmla="*/ 4792863 h 4792863"/>
              <a:gd name="connsiteX5" fmla="*/ 0 w 2209800"/>
              <a:gd name="connsiteY5" fmla="*/ 4792863 h 479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09800" h="4792863">
                <a:moveTo>
                  <a:pt x="0" y="0"/>
                </a:moveTo>
                <a:lnTo>
                  <a:pt x="106223" y="6164"/>
                </a:lnTo>
                <a:cubicBezTo>
                  <a:pt x="1287771" y="144042"/>
                  <a:pt x="2209800" y="1290628"/>
                  <a:pt x="2209800" y="2684663"/>
                </a:cubicBezTo>
                <a:cubicBezTo>
                  <a:pt x="2209800" y="3468809"/>
                  <a:pt x="1918064" y="4174659"/>
                  <a:pt x="1452505" y="4666727"/>
                </a:cubicBezTo>
                <a:lnTo>
                  <a:pt x="1321885" y="4792863"/>
                </a:lnTo>
                <a:lnTo>
                  <a:pt x="0" y="4792863"/>
                </a:lnTo>
                <a:close/>
              </a:path>
            </a:pathLst>
          </a:cu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5" name="等腰三角形 4"/>
          <p:cNvSpPr/>
          <p:nvPr/>
        </p:nvSpPr>
        <p:spPr>
          <a:xfrm rot="10800000">
            <a:off x="7808913" y="0"/>
            <a:ext cx="1600200" cy="7620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6" name="等腰三角形 5"/>
          <p:cNvSpPr/>
          <p:nvPr/>
        </p:nvSpPr>
        <p:spPr>
          <a:xfrm rot="2033691">
            <a:off x="9542463" y="1358900"/>
            <a:ext cx="854075" cy="736600"/>
          </a:xfrm>
          <a:prstGeom prst="triangle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0979150" y="928688"/>
            <a:ext cx="254000" cy="254000"/>
          </a:xfrm>
          <a:prstGeom prst="ellipse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593725" y="5983288"/>
            <a:ext cx="644525" cy="646113"/>
          </a:xfrm>
          <a:prstGeom prst="ellipse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28065" y="762000"/>
            <a:ext cx="76333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40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Using Adjectives with Shapes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1574800" y="1778000"/>
            <a:ext cx="807021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3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Examples:</a:t>
            </a:r>
          </a:p>
          <a:p>
            <a:endParaRPr lang="en-US" altLang="en-GB" sz="32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GB" sz="3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A large round circle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GB" sz="32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GB" sz="3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A small triangular sign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GB" sz="32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GB" sz="3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A smooth metallic cylinder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GB" sz="32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GB" sz="3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A rectangular box with sharp edges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Shape Adjectives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altLang="en-US"/>
          </a:p>
        </p:txBody>
      </p:sp>
      <p:pic>
        <p:nvPicPr>
          <p:cNvPr id="4" name="Picture 3"/>
          <p:cNvPicPr/>
          <p:nvPr/>
        </p:nvPicPr>
        <p:blipFill>
          <a:blip r:embed="rId2"/>
          <a:srcRect l="677" t="16463" r="21219" b="44287"/>
          <a:stretch>
            <a:fillRect/>
          </a:stretch>
        </p:blipFill>
        <p:spPr>
          <a:xfrm>
            <a:off x="0" y="1825625"/>
            <a:ext cx="6351270" cy="4149725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2"/>
          <a:srcRect l="865" t="55554" r="24028"/>
          <a:stretch>
            <a:fillRect/>
          </a:stretch>
        </p:blipFill>
        <p:spPr>
          <a:xfrm>
            <a:off x="6351905" y="2964815"/>
            <a:ext cx="5840095" cy="38931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等腰三角形 4"/>
          <p:cNvSpPr/>
          <p:nvPr/>
        </p:nvSpPr>
        <p:spPr>
          <a:xfrm rot="10800000">
            <a:off x="7808913" y="0"/>
            <a:ext cx="1600200" cy="7620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6" name="等腰三角形 5"/>
          <p:cNvSpPr/>
          <p:nvPr/>
        </p:nvSpPr>
        <p:spPr>
          <a:xfrm rot="2033691">
            <a:off x="9542463" y="1358900"/>
            <a:ext cx="854075" cy="736600"/>
          </a:xfrm>
          <a:prstGeom prst="triangle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593725" y="5983288"/>
            <a:ext cx="644525" cy="646113"/>
          </a:xfrm>
          <a:prstGeom prst="ellipse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81635" y="762000"/>
            <a:ext cx="115468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32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Describing Objects (Function + Components + Characteristics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381635" y="1950720"/>
            <a:ext cx="9377045" cy="3107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Example: A modern digital clock</a:t>
            </a:r>
          </a:p>
          <a:p>
            <a:endParaRPr lang="en-US" altLang="en-GB" sz="28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GB" sz="2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Function: shows time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GB" sz="28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GB" sz="2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Components: plastic case, LED screen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GB" sz="28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GB" sz="2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Characteristics: rectangular, portable, lightweight</a:t>
            </a:r>
          </a:p>
        </p:txBody>
      </p:sp>
      <p:pic>
        <p:nvPicPr>
          <p:cNvPr id="10" name="Picture 9"/>
          <p:cNvPicPr/>
          <p:nvPr/>
        </p:nvPicPr>
        <p:blipFill>
          <a:blip r:embed="rId2"/>
          <a:stretch>
            <a:fillRect/>
          </a:stretch>
        </p:blipFill>
        <p:spPr>
          <a:xfrm>
            <a:off x="8394065" y="2993390"/>
            <a:ext cx="3797935" cy="39249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3"/>
          <p:cNvSpPr/>
          <p:nvPr/>
        </p:nvSpPr>
        <p:spPr>
          <a:xfrm flipH="1">
            <a:off x="9982200" y="2065338"/>
            <a:ext cx="2209800" cy="4792663"/>
          </a:xfrm>
          <a:custGeom>
            <a:avLst/>
            <a:gdLst>
              <a:gd name="connsiteX0" fmla="*/ 0 w 2209800"/>
              <a:gd name="connsiteY0" fmla="*/ 0 h 4792863"/>
              <a:gd name="connsiteX1" fmla="*/ 106223 w 2209800"/>
              <a:gd name="connsiteY1" fmla="*/ 6164 h 4792863"/>
              <a:gd name="connsiteX2" fmla="*/ 2209800 w 2209800"/>
              <a:gd name="connsiteY2" fmla="*/ 2684663 h 4792863"/>
              <a:gd name="connsiteX3" fmla="*/ 1452505 w 2209800"/>
              <a:gd name="connsiteY3" fmla="*/ 4666727 h 4792863"/>
              <a:gd name="connsiteX4" fmla="*/ 1321885 w 2209800"/>
              <a:gd name="connsiteY4" fmla="*/ 4792863 h 4792863"/>
              <a:gd name="connsiteX5" fmla="*/ 0 w 2209800"/>
              <a:gd name="connsiteY5" fmla="*/ 4792863 h 479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09800" h="4792863">
                <a:moveTo>
                  <a:pt x="0" y="0"/>
                </a:moveTo>
                <a:lnTo>
                  <a:pt x="106223" y="6164"/>
                </a:lnTo>
                <a:cubicBezTo>
                  <a:pt x="1287771" y="144042"/>
                  <a:pt x="2209800" y="1290628"/>
                  <a:pt x="2209800" y="2684663"/>
                </a:cubicBezTo>
                <a:cubicBezTo>
                  <a:pt x="2209800" y="3468809"/>
                  <a:pt x="1918064" y="4174659"/>
                  <a:pt x="1452505" y="4666727"/>
                </a:cubicBezTo>
                <a:lnTo>
                  <a:pt x="1321885" y="4792863"/>
                </a:lnTo>
                <a:lnTo>
                  <a:pt x="0" y="4792863"/>
                </a:lnTo>
                <a:close/>
              </a:path>
            </a:pathLst>
          </a:cu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5" name="等腰三角形 4"/>
          <p:cNvSpPr/>
          <p:nvPr/>
        </p:nvSpPr>
        <p:spPr>
          <a:xfrm rot="10800000">
            <a:off x="7808913" y="0"/>
            <a:ext cx="1600200" cy="7620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6" name="等腰三角形 5"/>
          <p:cNvSpPr/>
          <p:nvPr/>
        </p:nvSpPr>
        <p:spPr>
          <a:xfrm rot="2033691">
            <a:off x="9542463" y="1358900"/>
            <a:ext cx="854075" cy="736600"/>
          </a:xfrm>
          <a:prstGeom prst="triangle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0979150" y="928688"/>
            <a:ext cx="254000" cy="254000"/>
          </a:xfrm>
          <a:prstGeom prst="ellipse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593725" y="5983288"/>
            <a:ext cx="644525" cy="646113"/>
          </a:xfrm>
          <a:prstGeom prst="ellipse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28065" y="762000"/>
            <a:ext cx="76333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40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Adjectives for Position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1116330" y="2106295"/>
            <a:ext cx="930148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3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Left, right, top, bottom, inside, outside, front, back</a:t>
            </a:r>
          </a:p>
          <a:p>
            <a:r>
              <a:rPr lang="en-US" altLang="en-GB" sz="3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Examples:</a:t>
            </a:r>
          </a:p>
          <a:p>
            <a:endParaRPr lang="en-US" altLang="en-GB" sz="32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GB" sz="3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The button is on the left side.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GB" sz="32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GB" sz="3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The logo is at the top right corner.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3"/>
          <p:cNvSpPr/>
          <p:nvPr/>
        </p:nvSpPr>
        <p:spPr>
          <a:xfrm flipH="1">
            <a:off x="9982200" y="2065338"/>
            <a:ext cx="2209800" cy="4792663"/>
          </a:xfrm>
          <a:custGeom>
            <a:avLst/>
            <a:gdLst>
              <a:gd name="connsiteX0" fmla="*/ 0 w 2209800"/>
              <a:gd name="connsiteY0" fmla="*/ 0 h 4792863"/>
              <a:gd name="connsiteX1" fmla="*/ 106223 w 2209800"/>
              <a:gd name="connsiteY1" fmla="*/ 6164 h 4792863"/>
              <a:gd name="connsiteX2" fmla="*/ 2209800 w 2209800"/>
              <a:gd name="connsiteY2" fmla="*/ 2684663 h 4792863"/>
              <a:gd name="connsiteX3" fmla="*/ 1452505 w 2209800"/>
              <a:gd name="connsiteY3" fmla="*/ 4666727 h 4792863"/>
              <a:gd name="connsiteX4" fmla="*/ 1321885 w 2209800"/>
              <a:gd name="connsiteY4" fmla="*/ 4792863 h 4792863"/>
              <a:gd name="connsiteX5" fmla="*/ 0 w 2209800"/>
              <a:gd name="connsiteY5" fmla="*/ 4792863 h 479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09800" h="4792863">
                <a:moveTo>
                  <a:pt x="0" y="0"/>
                </a:moveTo>
                <a:lnTo>
                  <a:pt x="106223" y="6164"/>
                </a:lnTo>
                <a:cubicBezTo>
                  <a:pt x="1287771" y="144042"/>
                  <a:pt x="2209800" y="1290628"/>
                  <a:pt x="2209800" y="2684663"/>
                </a:cubicBezTo>
                <a:cubicBezTo>
                  <a:pt x="2209800" y="3468809"/>
                  <a:pt x="1918064" y="4174659"/>
                  <a:pt x="1452505" y="4666727"/>
                </a:cubicBezTo>
                <a:lnTo>
                  <a:pt x="1321885" y="4792863"/>
                </a:lnTo>
                <a:lnTo>
                  <a:pt x="0" y="4792863"/>
                </a:lnTo>
                <a:close/>
              </a:path>
            </a:pathLst>
          </a:cu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5" name="等腰三角形 4"/>
          <p:cNvSpPr/>
          <p:nvPr/>
        </p:nvSpPr>
        <p:spPr>
          <a:xfrm rot="10800000">
            <a:off x="7808913" y="0"/>
            <a:ext cx="1600200" cy="7620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6" name="等腰三角形 5"/>
          <p:cNvSpPr/>
          <p:nvPr/>
        </p:nvSpPr>
        <p:spPr>
          <a:xfrm rot="2033691">
            <a:off x="9542463" y="1358900"/>
            <a:ext cx="854075" cy="736600"/>
          </a:xfrm>
          <a:prstGeom prst="triangle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0979150" y="928688"/>
            <a:ext cx="254000" cy="254000"/>
          </a:xfrm>
          <a:prstGeom prst="ellipse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137285" y="222250"/>
            <a:ext cx="76333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40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Positional / Locational Adjectives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883285" y="1303020"/>
            <a:ext cx="10095865" cy="5169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Top / Bottom </a:t>
            </a:r>
            <a:r>
              <a:rPr lang="en-US" altLang="en-US" sz="2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 sz="2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the bottom drawer, the top shelf</a:t>
            </a:r>
          </a:p>
          <a:p>
            <a:endParaRPr lang="en-US" altLang="en-GB" sz="22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2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Upper / Lower </a:t>
            </a:r>
            <a:r>
              <a:rPr lang="en-US" altLang="en-US" sz="2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 sz="2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the upper part of the engine, the lower section of the bridge</a:t>
            </a:r>
          </a:p>
          <a:p>
            <a:endParaRPr lang="en-US" altLang="en-GB" sz="22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2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Left / Right </a:t>
            </a:r>
            <a:r>
              <a:rPr lang="en-US" altLang="en-US" sz="2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 sz="2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the left panel, the right side button</a:t>
            </a:r>
          </a:p>
          <a:p>
            <a:endParaRPr lang="en-US" altLang="en-GB" sz="22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2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Front / Back </a:t>
            </a:r>
            <a:r>
              <a:rPr lang="en-US" altLang="en-US" sz="2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 sz="2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the front cover, the back door</a:t>
            </a:r>
          </a:p>
          <a:p>
            <a:endParaRPr lang="en-US" altLang="en-GB" sz="22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2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Inner / Outer </a:t>
            </a:r>
            <a:r>
              <a:rPr lang="en-US" altLang="en-US" sz="2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 sz="2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the inner layer, the outer wall</a:t>
            </a:r>
          </a:p>
          <a:p>
            <a:endParaRPr lang="en-US" altLang="en-GB" sz="22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2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Central / Middle </a:t>
            </a:r>
            <a:r>
              <a:rPr lang="en-US" altLang="en-US" sz="2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 sz="2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the central unit, the middle section</a:t>
            </a:r>
          </a:p>
          <a:p>
            <a:endParaRPr lang="en-US" altLang="en-GB" sz="22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2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Adjacent / Opposite </a:t>
            </a:r>
            <a:r>
              <a:rPr lang="en-US" altLang="en-US" sz="2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 sz="2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the adjacent building, the opposite wall</a:t>
            </a:r>
          </a:p>
          <a:p>
            <a:endParaRPr lang="en-US" altLang="en-GB" sz="22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2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Nearby / Distant </a:t>
            </a:r>
            <a:r>
              <a:rPr lang="en-US" altLang="en-US" sz="2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 sz="2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a nearby object, a distant star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GB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The upper panel of the machine contains the control buttons.</a:t>
            </a:r>
          </a:p>
          <a:p>
            <a:endParaRPr lang="en-US" altLang="en-GB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The front wheel is slightly larger than the back one.</a:t>
            </a:r>
          </a:p>
          <a:p>
            <a:endParaRPr lang="en-US" altLang="en-GB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The logo is placed at the top-right corner of the page.</a:t>
            </a:r>
          </a:p>
          <a:p>
            <a:endParaRPr lang="en-US" altLang="en-GB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The sensor is located on the inner surface of the device.</a:t>
            </a:r>
          </a:p>
          <a:p>
            <a:endParaRPr lang="en-US" altLang="en-GB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The central unit connects all other components.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3"/>
          <p:cNvSpPr/>
          <p:nvPr/>
        </p:nvSpPr>
        <p:spPr>
          <a:xfrm flipH="1">
            <a:off x="9982200" y="2065338"/>
            <a:ext cx="2209800" cy="4792663"/>
          </a:xfrm>
          <a:custGeom>
            <a:avLst/>
            <a:gdLst>
              <a:gd name="connsiteX0" fmla="*/ 0 w 2209800"/>
              <a:gd name="connsiteY0" fmla="*/ 0 h 4792863"/>
              <a:gd name="connsiteX1" fmla="*/ 106223 w 2209800"/>
              <a:gd name="connsiteY1" fmla="*/ 6164 h 4792863"/>
              <a:gd name="connsiteX2" fmla="*/ 2209800 w 2209800"/>
              <a:gd name="connsiteY2" fmla="*/ 2684663 h 4792863"/>
              <a:gd name="connsiteX3" fmla="*/ 1452505 w 2209800"/>
              <a:gd name="connsiteY3" fmla="*/ 4666727 h 4792863"/>
              <a:gd name="connsiteX4" fmla="*/ 1321885 w 2209800"/>
              <a:gd name="connsiteY4" fmla="*/ 4792863 h 4792863"/>
              <a:gd name="connsiteX5" fmla="*/ 0 w 2209800"/>
              <a:gd name="connsiteY5" fmla="*/ 4792863 h 479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09800" h="4792863">
                <a:moveTo>
                  <a:pt x="0" y="0"/>
                </a:moveTo>
                <a:lnTo>
                  <a:pt x="106223" y="6164"/>
                </a:lnTo>
                <a:cubicBezTo>
                  <a:pt x="1287771" y="144042"/>
                  <a:pt x="2209800" y="1290628"/>
                  <a:pt x="2209800" y="2684663"/>
                </a:cubicBezTo>
                <a:cubicBezTo>
                  <a:pt x="2209800" y="3468809"/>
                  <a:pt x="1918064" y="4174659"/>
                  <a:pt x="1452505" y="4666727"/>
                </a:cubicBezTo>
                <a:lnTo>
                  <a:pt x="1321885" y="4792863"/>
                </a:lnTo>
                <a:lnTo>
                  <a:pt x="0" y="4792863"/>
                </a:lnTo>
                <a:close/>
              </a:path>
            </a:pathLst>
          </a:cu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5" name="等腰三角形 4"/>
          <p:cNvSpPr/>
          <p:nvPr/>
        </p:nvSpPr>
        <p:spPr>
          <a:xfrm rot="10800000">
            <a:off x="7808913" y="0"/>
            <a:ext cx="1600200" cy="7620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6" name="等腰三角形 5"/>
          <p:cNvSpPr/>
          <p:nvPr/>
        </p:nvSpPr>
        <p:spPr>
          <a:xfrm rot="2033691">
            <a:off x="9542463" y="1358900"/>
            <a:ext cx="854075" cy="736600"/>
          </a:xfrm>
          <a:prstGeom prst="triangle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0979150" y="928688"/>
            <a:ext cx="254000" cy="254000"/>
          </a:xfrm>
          <a:prstGeom prst="ellipse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137285" y="222250"/>
            <a:ext cx="76333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40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Positional / Locational Adjectives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883285" y="1303020"/>
            <a:ext cx="10095865" cy="5169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Top / Bottom </a:t>
            </a:r>
            <a:r>
              <a:rPr lang="en-US" altLang="en-US" sz="2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 sz="2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the bottom drawer, the top shelf</a:t>
            </a:r>
          </a:p>
          <a:p>
            <a:endParaRPr lang="en-US" altLang="en-GB" sz="22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2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Upper / Lower </a:t>
            </a:r>
            <a:r>
              <a:rPr lang="en-US" altLang="en-US" sz="2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 sz="2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the upper part of the engine, the lower section of the bridge</a:t>
            </a:r>
          </a:p>
          <a:p>
            <a:endParaRPr lang="en-US" altLang="en-GB" sz="22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2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Left / Right </a:t>
            </a:r>
            <a:r>
              <a:rPr lang="en-US" altLang="en-US" sz="2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 sz="2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the left panel, the right side button</a:t>
            </a:r>
          </a:p>
          <a:p>
            <a:endParaRPr lang="en-US" altLang="en-GB" sz="22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2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Front / Back </a:t>
            </a:r>
            <a:r>
              <a:rPr lang="en-US" altLang="en-US" sz="2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 sz="2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the front cover, the back door</a:t>
            </a:r>
          </a:p>
          <a:p>
            <a:endParaRPr lang="en-US" altLang="en-GB" sz="22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2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Inner / Outer </a:t>
            </a:r>
            <a:r>
              <a:rPr lang="en-US" altLang="en-US" sz="2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 sz="2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the inner layer, the outer wall</a:t>
            </a:r>
          </a:p>
          <a:p>
            <a:endParaRPr lang="en-US" altLang="en-GB" sz="22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2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Central / Middle </a:t>
            </a:r>
            <a:r>
              <a:rPr lang="en-US" altLang="en-US" sz="2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 sz="2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the central unit, the middle section</a:t>
            </a:r>
          </a:p>
          <a:p>
            <a:endParaRPr lang="en-US" altLang="en-GB" sz="22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2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Adjacent / Opposite </a:t>
            </a:r>
            <a:r>
              <a:rPr lang="en-US" altLang="en-US" sz="2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 sz="2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the adjacent building, the opposite wall</a:t>
            </a:r>
          </a:p>
          <a:p>
            <a:endParaRPr lang="en-US" altLang="en-GB" sz="22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2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Nearby / Distant </a:t>
            </a:r>
            <a:r>
              <a:rPr lang="en-US" altLang="en-US" sz="2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 sz="2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a nearby object, a distant star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3"/>
          <p:cNvSpPr/>
          <p:nvPr/>
        </p:nvSpPr>
        <p:spPr>
          <a:xfrm flipH="1">
            <a:off x="9982200" y="2065338"/>
            <a:ext cx="2209800" cy="4792663"/>
          </a:xfrm>
          <a:custGeom>
            <a:avLst/>
            <a:gdLst>
              <a:gd name="connsiteX0" fmla="*/ 0 w 2209800"/>
              <a:gd name="connsiteY0" fmla="*/ 0 h 4792863"/>
              <a:gd name="connsiteX1" fmla="*/ 106223 w 2209800"/>
              <a:gd name="connsiteY1" fmla="*/ 6164 h 4792863"/>
              <a:gd name="connsiteX2" fmla="*/ 2209800 w 2209800"/>
              <a:gd name="connsiteY2" fmla="*/ 2684663 h 4792863"/>
              <a:gd name="connsiteX3" fmla="*/ 1452505 w 2209800"/>
              <a:gd name="connsiteY3" fmla="*/ 4666727 h 4792863"/>
              <a:gd name="connsiteX4" fmla="*/ 1321885 w 2209800"/>
              <a:gd name="connsiteY4" fmla="*/ 4792863 h 4792863"/>
              <a:gd name="connsiteX5" fmla="*/ 0 w 2209800"/>
              <a:gd name="connsiteY5" fmla="*/ 4792863 h 479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09800" h="4792863">
                <a:moveTo>
                  <a:pt x="0" y="0"/>
                </a:moveTo>
                <a:lnTo>
                  <a:pt x="106223" y="6164"/>
                </a:lnTo>
                <a:cubicBezTo>
                  <a:pt x="1287771" y="144042"/>
                  <a:pt x="2209800" y="1290628"/>
                  <a:pt x="2209800" y="2684663"/>
                </a:cubicBezTo>
                <a:cubicBezTo>
                  <a:pt x="2209800" y="3468809"/>
                  <a:pt x="1918064" y="4174659"/>
                  <a:pt x="1452505" y="4666727"/>
                </a:cubicBezTo>
                <a:lnTo>
                  <a:pt x="1321885" y="4792863"/>
                </a:lnTo>
                <a:lnTo>
                  <a:pt x="0" y="4792863"/>
                </a:lnTo>
                <a:close/>
              </a:path>
            </a:pathLst>
          </a:cu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5" name="等腰三角形 4"/>
          <p:cNvSpPr/>
          <p:nvPr/>
        </p:nvSpPr>
        <p:spPr>
          <a:xfrm rot="10800000">
            <a:off x="7808913" y="0"/>
            <a:ext cx="1600200" cy="7620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6" name="等腰三角形 5"/>
          <p:cNvSpPr/>
          <p:nvPr/>
        </p:nvSpPr>
        <p:spPr>
          <a:xfrm rot="2033691">
            <a:off x="9542463" y="1358900"/>
            <a:ext cx="854075" cy="736600"/>
          </a:xfrm>
          <a:prstGeom prst="triangle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0979150" y="928688"/>
            <a:ext cx="254000" cy="254000"/>
          </a:xfrm>
          <a:prstGeom prst="ellipse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137285" y="222250"/>
            <a:ext cx="76333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40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Activity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883285" y="929005"/>
            <a:ext cx="10095865" cy="6523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Task: Write 5 sentences describing shapes/objects using adjectives.</a:t>
            </a:r>
          </a:p>
          <a:p>
            <a:endParaRPr lang="en-US" altLang="en-GB" sz="22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2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Example prompts:</a:t>
            </a:r>
          </a:p>
          <a:p>
            <a:endParaRPr lang="en-US" altLang="en-GB" sz="22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2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A smartphone</a:t>
            </a:r>
            <a:r>
              <a:rPr lang="en-GB" altLang="en-US" sz="2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                                    </a:t>
            </a:r>
            <a:r>
              <a:rPr lang="en-GB" altLang="en-US" sz="2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 knife</a:t>
            </a:r>
            <a:endParaRPr lang="en-GB" altLang="en-US" sz="2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 sz="2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2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A water bottle</a:t>
            </a:r>
            <a:r>
              <a:rPr lang="en-GB" altLang="en-US" sz="2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                                    A cup</a:t>
            </a:r>
            <a:endParaRPr lang="en-US" altLang="en-GB" sz="2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 sz="2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2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A chair</a:t>
            </a:r>
            <a:r>
              <a:rPr lang="en-GB" altLang="en-US" sz="2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                                               An apple                      </a:t>
            </a:r>
            <a:endParaRPr lang="en-US" altLang="en-GB" sz="2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 sz="2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2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A clock</a:t>
            </a:r>
            <a:r>
              <a:rPr lang="en-GB" altLang="en-US" sz="2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                                               A bag</a:t>
            </a:r>
            <a:endParaRPr lang="en-US" altLang="en-GB" sz="2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 sz="2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2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A table lamp</a:t>
            </a:r>
            <a:r>
              <a:rPr lang="en-GB" altLang="en-US" sz="2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                                       A laptop</a:t>
            </a:r>
            <a:endParaRPr lang="en-US" altLang="en-GB" sz="2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 sz="2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GB" altLang="en-US" sz="2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A pen                                                   A house</a:t>
            </a:r>
          </a:p>
          <a:p>
            <a:endParaRPr lang="en-GB" altLang="en-US" sz="22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GB" altLang="en-US" sz="22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5805488"/>
            <a:ext cx="12192000" cy="105251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33794" name="文本框 6"/>
          <p:cNvSpPr txBox="1"/>
          <p:nvPr/>
        </p:nvSpPr>
        <p:spPr>
          <a:xfrm>
            <a:off x="4986338" y="2078038"/>
            <a:ext cx="6035675" cy="1200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7200" b="1" dirty="0">
                <a:solidFill>
                  <a:srgbClr val="FFFFFF"/>
                </a:solidFill>
                <a:latin typeface="Arial" panose="020B0604020202020204" pitchFamily="34" charset="0"/>
                <a:ea typeface="等线" pitchFamily="2" charset="-122"/>
              </a:rPr>
              <a:t>THANK YOU</a:t>
            </a:r>
            <a:endParaRPr lang="zh-CN" altLang="en-US" sz="7200" b="1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0" y="2528888"/>
            <a:ext cx="4078288" cy="4329113"/>
          </a:xfrm>
          <a:custGeom>
            <a:avLst/>
            <a:gdLst>
              <a:gd name="connsiteX0" fmla="*/ 744589 w 5012696"/>
              <a:gd name="connsiteY0" fmla="*/ 0 h 5320395"/>
              <a:gd name="connsiteX1" fmla="*/ 5012696 w 5012696"/>
              <a:gd name="connsiteY1" fmla="*/ 4268107 h 5320395"/>
              <a:gd name="connsiteX2" fmla="*/ 4925983 w 5012696"/>
              <a:gd name="connsiteY2" fmla="*/ 5128280 h 5320395"/>
              <a:gd name="connsiteX3" fmla="*/ 4876585 w 5012696"/>
              <a:gd name="connsiteY3" fmla="*/ 5320395 h 5320395"/>
              <a:gd name="connsiteX4" fmla="*/ 0 w 5012696"/>
              <a:gd name="connsiteY4" fmla="*/ 5320395 h 5320395"/>
              <a:gd name="connsiteX5" fmla="*/ 0 w 5012696"/>
              <a:gd name="connsiteY5" fmla="*/ 66072 h 5320395"/>
              <a:gd name="connsiteX6" fmla="*/ 94598 w 5012696"/>
              <a:gd name="connsiteY6" fmla="*/ 49178 h 5320395"/>
              <a:gd name="connsiteX7" fmla="*/ 744589 w 5012696"/>
              <a:gd name="connsiteY7" fmla="*/ 0 h 5320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12696" h="5320395">
                <a:moveTo>
                  <a:pt x="744589" y="0"/>
                </a:moveTo>
                <a:cubicBezTo>
                  <a:pt x="3101799" y="0"/>
                  <a:pt x="5012696" y="1910897"/>
                  <a:pt x="5012696" y="4268107"/>
                </a:cubicBezTo>
                <a:cubicBezTo>
                  <a:pt x="5012696" y="4562759"/>
                  <a:pt x="4982838" y="4850436"/>
                  <a:pt x="4925983" y="5128280"/>
                </a:cubicBezTo>
                <a:lnTo>
                  <a:pt x="4876585" y="5320395"/>
                </a:lnTo>
                <a:lnTo>
                  <a:pt x="0" y="5320395"/>
                </a:lnTo>
                <a:lnTo>
                  <a:pt x="0" y="66072"/>
                </a:lnTo>
                <a:lnTo>
                  <a:pt x="94598" y="49178"/>
                </a:lnTo>
                <a:cubicBezTo>
                  <a:pt x="306535" y="16795"/>
                  <a:pt x="523601" y="0"/>
                  <a:pt x="744589" y="0"/>
                </a:cubicBezTo>
                <a:close/>
              </a:path>
            </a:pathLst>
          </a:cu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3533775" y="5011738"/>
            <a:ext cx="1089025" cy="10874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10610850" y="730250"/>
            <a:ext cx="411163" cy="40957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11387138" y="1357313"/>
            <a:ext cx="258763" cy="25876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606</Words>
  <Application>Microsoft Office PowerPoint</Application>
  <PresentationFormat>Widescreen</PresentationFormat>
  <Paragraphs>121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等线</vt:lpstr>
      <vt:lpstr>Arial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Shape Adjectives</vt:lpstr>
      <vt:lpstr>PowerPoint Presentation</vt:lpstr>
      <vt:lpstr>PowerPoint Presentation</vt:lpstr>
      <vt:lpstr>PowerPoint Presentation</vt:lpstr>
      <vt:lpstr>Examples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Kaveesh Hapuarachchi</cp:lastModifiedBy>
  <cp:revision>70</cp:revision>
  <dcterms:created xsi:type="dcterms:W3CDTF">2015-10-17T07:33:05Z</dcterms:created>
  <dcterms:modified xsi:type="dcterms:W3CDTF">2025-09-28T14:09:39Z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2057-12.2.0.21931</vt:lpwstr>
  </property>
  <property fmtid="{D5CDD505-2E9C-101B-9397-08002B2CF9AE}" pid="3" name="ICV">
    <vt:lpwstr>F3C7CBD97E8F42B2B3E1E35947D444AF_11</vt:lpwstr>
  </property>
</Properties>
</file>